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72200" y="0"/>
            <a:ext cx="2971800" cy="5143500"/>
          </a:xfrm>
          <a:prstGeom prst="rect">
            <a:avLst/>
          </a:prstGeom>
          <a:solidFill>
            <a:srgbClr val="17395F"/>
          </a:solidFill>
          <a:ln w="12700">
            <a:solidFill>
              <a:srgbClr val="17395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97880" y="0"/>
            <a:ext cx="109728" cy="5143500"/>
          </a:xfrm>
          <a:prstGeom prst="rect">
            <a:avLst/>
          </a:prstGeom>
          <a:solidFill>
            <a:srgbClr val="22C7D6"/>
          </a:solidFill>
          <a:ln w="12700">
            <a:solidFill>
              <a:srgbClr val="22C7D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37960" y="91440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204E72"/>
          </a:solidFill>
          <a:ln w="12700">
            <a:solidFill>
              <a:srgbClr val="22C7D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03720" y="128016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7D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&lt;/&gt;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1078992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C7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辅助开发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1572768"/>
            <a:ext cx="4892040" cy="10972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 Superpowers 与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自定义 Skills 提升开发效能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3232" y="2788920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2E6F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从“陪聊机器人”到“标准化工程助手”的重构实践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3401568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演讲者  [你的名字]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858768"/>
            <a:ext cx="3246120" cy="512064"/>
          </a:xfrm>
          <a:prstGeom prst="roundRect">
            <a:avLst>
              <a:gd name="adj" fmla="val 14286"/>
            </a:avLst>
          </a:prstGeom>
          <a:solidFill>
            <a:srgbClr val="122E4A"/>
          </a:solidFill>
          <a:ln w="12700">
            <a:solidFill>
              <a:srgbClr val="547A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4014216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5DD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 run share_session --topic "AI_PowerUp"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75320" y="46451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E6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94360" y="658368"/>
            <a:ext cx="795528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31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现状：AI 编程的常见痛点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703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6EA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100584" cy="10515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45336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1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 Loss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08960" y="155448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4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上下文丢失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856232"/>
            <a:ext cx="3273552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聊着聊着就忘了项目原有的架构约束。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3703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6EA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417320"/>
            <a:ext cx="100584" cy="1051560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545336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1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Hallucination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155448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7A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幻觉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10328" y="1856232"/>
            <a:ext cx="3273552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一本正经地胡说八道，生成不存在的 API。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788920"/>
            <a:ext cx="3703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6EA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788920"/>
            <a:ext cx="100584" cy="105156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2916936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1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Scope Creep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108960" y="292608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B7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逻辑发散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3227832"/>
            <a:ext cx="3273552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任务边界模糊，导致 AI 擅自修改无关逻辑。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2788920"/>
            <a:ext cx="3703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6EA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788920"/>
            <a:ext cx="100584" cy="10515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2916936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1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Fatigue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292608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74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重复劳动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0328" y="3227832"/>
            <a:ext cx="3273552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每次都要复读命名规范、DAO 转换、日志格式……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160520"/>
            <a:ext cx="7818120" cy="475488"/>
          </a:xfrm>
          <a:prstGeom prst="roundRect">
            <a:avLst>
              <a:gd name="adj" fmla="val 11538"/>
            </a:avLst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315968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我们需要的是能真正落地、懂工程规矩的工程师，而不是只负责陪聊的机器人。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75320" y="46451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9A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94360" y="658368"/>
            <a:ext cx="795528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31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Superpowers：AI 开发的“标准化工作流引擎”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3794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6EA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25880"/>
            <a:ext cx="100584" cy="10972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2704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核心定义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810512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531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一个能够调度 AI Agent、深度集成终端权限、实现“流程化编码”的工程内核。</a:t>
            </a:r>
            <a:endParaRPr lang="en-US" sz="1400" b="1" dirty="0">
              <a:solidFill>
                <a:srgbClr val="15314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274320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31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适用场景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2999232"/>
            <a:ext cx="3749040" cy="13258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531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新业务开发：从零构建复杂工程，确保符合团队架构规范。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531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系统重构：高效处理老代码逻辑拆解与归档，降低风险。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531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批量自动化：编写复杂运维脚本，利用 AI 规划处理批量操作。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3794760" cy="3017520"/>
          </a:xfrm>
          <a:prstGeom prst="rect">
            <a:avLst/>
          </a:prstGeom>
          <a:solidFill>
            <a:srgbClr val="EAF8FA"/>
          </a:solidFill>
          <a:ln w="12700">
            <a:solidFill>
              <a:srgbClr val="CBE9EE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15727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设计哲学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83480" y="1901952"/>
            <a:ext cx="31546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6EA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83480" y="1901952"/>
            <a:ext cx="100584" cy="877824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3665" y="1880870"/>
            <a:ext cx="822960" cy="3867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31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理性执行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93792" y="2286000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从“方案设计 → 任务拆解 → 循序执行”出发，不再直接跳到代码。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983480" y="2944368"/>
            <a:ext cx="31546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6EA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83480" y="2944368"/>
            <a:ext cx="100584" cy="877824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93665" y="2944495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31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透明可控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93792" y="3337560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所有步骤人可见、可审、可控，拒绝黑盒。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75320" y="46451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9A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94360" y="658368"/>
            <a:ext cx="795528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31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核心能力详解（四大杀手锏）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658368" y="1417320"/>
          <a:ext cx="7818120" cy="2377440"/>
        </p:xfrm>
        <a:graphic>
          <a:graphicData uri="http://schemas.openxmlformats.org/drawingml/2006/table">
            <a:tbl>
              <a:tblPr/>
              <a:tblGrid>
                <a:gridCol w="2148840"/>
                <a:gridCol w="2514600"/>
                <a:gridCol w="3154680"/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314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核心能力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314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中文深度解释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314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给开发带来的收益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314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brainstorm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314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头脑风暴与方案对齐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314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规避方向性错误，降低逻辑偏差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314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Task Decomposition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314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任务自动拆解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314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防止 AI 断片，确保每一步准确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314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Subagent Mechanism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314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子代理调度机制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314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环境隔离，任务执行更专注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314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TDD Guard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314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测试驱动开发的守护者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314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代码质量有底线，锁定重构风险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4096512"/>
            <a:ext cx="7772400" cy="384048"/>
          </a:xfrm>
          <a:prstGeom prst="roundRect">
            <a:avLst>
              <a:gd name="adj" fmla="val 14286"/>
            </a:avLst>
          </a:prstGeom>
          <a:solidFill>
            <a:srgbClr val="EAF4F6"/>
          </a:solidFill>
          <a:ln w="12700">
            <a:solidFill>
              <a:srgbClr val="EAF4F6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4215384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31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用流程、拆解、隔离、测试四层护栏，把 AI 从“聪明”变成“稳定”。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75320" y="46451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9A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94360" y="658368"/>
            <a:ext cx="795528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31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工具对比：为何选择 Superpowers 而非原生 Plan？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481328"/>
            <a:ext cx="3566160" cy="2304288"/>
          </a:xfrm>
          <a:prstGeom prst="rect">
            <a:avLst/>
          </a:prstGeom>
          <a:solidFill>
            <a:srgbClr val="FFF8F7"/>
          </a:solidFill>
          <a:ln w="12700">
            <a:solidFill>
              <a:srgbClr val="F2D7D1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481328"/>
            <a:ext cx="100584" cy="2304288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09928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31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Claude Code 原生 Plan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066544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更偏线性思维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340864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在大型代码库中逻辑易发散，缺乏对细节的强制约束。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481328"/>
            <a:ext cx="3749040" cy="2304288"/>
          </a:xfrm>
          <a:prstGeom prst="rect">
            <a:avLst/>
          </a:prstGeom>
          <a:solidFill>
            <a:srgbClr val="F2FBFC"/>
          </a:solidFill>
          <a:ln w="12700">
            <a:solidFill>
              <a:srgbClr val="CDECEE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481328"/>
            <a:ext cx="100584" cy="230428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87500"/>
            <a:ext cx="1645920" cy="351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31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Superpowers 优势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28032" y="2029968"/>
            <a:ext cx="3127248" cy="13258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531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任务护栏：通过子代理调度，防止 AI 越界或迷路。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531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状态保持：即使任务中断，基于 Checkpoint 可无缝接续。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531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高度可扩展：配合自定义 Skills，实现开发规范的“硬编码”。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977640" y="2148840"/>
            <a:ext cx="384048" cy="713232"/>
          </a:xfrm>
          <a:prstGeom prst="chevron">
            <a:avLst/>
          </a:prstGeom>
          <a:solidFill>
            <a:srgbClr val="F5B700"/>
          </a:solidFill>
          <a:ln w="12700">
            <a:solidFill>
              <a:srgbClr val="F5B70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4069080"/>
            <a:ext cx="7662672" cy="420624"/>
          </a:xfrm>
          <a:prstGeom prst="roundRect">
            <a:avLst>
              <a:gd name="adj" fmla="val 13043"/>
            </a:avLst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197096"/>
            <a:ext cx="7223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[演示 1] Superpowers 自动任务拆解与执行录屏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75320" y="46451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9A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94360" y="658368"/>
            <a:ext cx="795528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31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Skills：沉淀你的个人开发资产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2834640" cy="265176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175564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指令资产化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32688" y="206654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E7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Skills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2468880"/>
            <a:ext cx="2148840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8EAF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把个人经验沉淀为项目可复用的“技能集”，让 AI 获得长期稳定的工程习惯。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32688" y="340156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1B456B"/>
          </a:solidFill>
          <a:ln w="12700">
            <a:solidFill>
              <a:srgbClr val="22C7D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474720"/>
            <a:ext cx="1225296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7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skill-creator</a:t>
            </a:r>
            <a:endParaRPr lang="en-US" sz="1000" dirty="0"/>
          </a:p>
        </p:txBody>
      </p:sp>
      <p:sp>
        <p:nvSpPr>
          <p:cNvPr id="11" name="Shape 9"/>
          <p:cNvSpPr/>
          <p:nvPr>
            <p:custDataLst>
              <p:tags r:id="rId1"/>
            </p:custDataLst>
          </p:nvPr>
        </p:nvSpPr>
        <p:spPr>
          <a:xfrm>
            <a:off x="3794760" y="1417320"/>
            <a:ext cx="45720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6EA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>
            <p:custDataLst>
              <p:tags r:id="rId2"/>
            </p:custDataLst>
          </p:nvPr>
        </p:nvSpPr>
        <p:spPr>
          <a:xfrm>
            <a:off x="3794760" y="1417320"/>
            <a:ext cx="100584" cy="11155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3"/>
            </p:custDataLst>
          </p:nvPr>
        </p:nvSpPr>
        <p:spPr>
          <a:xfrm>
            <a:off x="4069080" y="16184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编写原则</a:t>
            </a:r>
            <a:endParaRPr lang="en-US" sz="1300" dirty="0"/>
          </a:p>
        </p:txBody>
      </p:sp>
      <p:sp>
        <p:nvSpPr>
          <p:cNvPr id="14" name="Text 12"/>
          <p:cNvSpPr/>
          <p:nvPr>
            <p:custDataLst>
              <p:tags r:id="rId4"/>
            </p:custDataLst>
          </p:nvPr>
        </p:nvSpPr>
        <p:spPr>
          <a:xfrm>
            <a:off x="4069080" y="1819275"/>
            <a:ext cx="3840480" cy="6489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531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Must / Must not：严格规定边界    </a:t>
            </a:r>
            <a:endParaRPr lang="en-US" sz="1450" b="1" dirty="0">
              <a:solidFill>
                <a:srgbClr val="15314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450" b="1" dirty="0">
                <a:solidFill>
                  <a:srgbClr val="1531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Always / Avoid：强制编码习惯</a:t>
            </a:r>
            <a:endParaRPr lang="en-US" sz="1450" dirty="0"/>
          </a:p>
        </p:txBody>
      </p:sp>
      <p:sp>
        <p:nvSpPr>
          <p:cNvPr id="15" name="Shape 13"/>
          <p:cNvSpPr/>
          <p:nvPr>
            <p:custDataLst>
              <p:tags r:id="rId5"/>
            </p:custDataLst>
          </p:nvPr>
        </p:nvSpPr>
        <p:spPr>
          <a:xfrm>
            <a:off x="3794760" y="2743200"/>
            <a:ext cx="4572000" cy="1325880"/>
          </a:xfrm>
          <a:prstGeom prst="rect">
            <a:avLst/>
          </a:prstGeom>
          <a:solidFill>
            <a:srgbClr val="F8FCFD"/>
          </a:solidFill>
          <a:ln w="12700">
            <a:solidFill>
              <a:srgbClr val="D9E6EA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6" name="Text 14"/>
          <p:cNvSpPr/>
          <p:nvPr>
            <p:custDataLst>
              <p:tags r:id="rId6"/>
            </p:custDataLst>
          </p:nvPr>
        </p:nvSpPr>
        <p:spPr>
          <a:xfrm>
            <a:off x="4069080" y="296214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7" name="Text 15"/>
          <p:cNvSpPr/>
          <p:nvPr>
            <p:custDataLst>
              <p:tags r:id="rId7"/>
            </p:custDataLst>
          </p:nvPr>
        </p:nvSpPr>
        <p:spPr>
          <a:xfrm>
            <a:off x="4069080" y="3246120"/>
            <a:ext cx="37947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531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这相当于给 AI 插了个“经验 U 盘”，把个人编码经验转化为可复用、可传承的工程资产。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75320" y="46451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9A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94360" y="658368"/>
            <a:ext cx="795528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31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实操演示：Superpowers + Skills 组合拳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1874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D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783080"/>
            <a:ext cx="100584" cy="1691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75104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4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9536" y="234086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531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 Skill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9536" y="269748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瞬间注入项目规范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24328" y="2395728"/>
            <a:ext cx="228600" cy="384048"/>
          </a:xfrm>
          <a:prstGeom prst="chevron">
            <a:avLst/>
          </a:prstGeom>
          <a:solidFill>
            <a:srgbClr val="B6CAD4"/>
          </a:solidFill>
          <a:ln w="12700">
            <a:solidFill>
              <a:srgbClr val="B6CAD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15768" y="1783080"/>
            <a:ext cx="1874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D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15768" y="1783080"/>
            <a:ext cx="100584" cy="1691640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16936" y="1975104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7A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16936" y="234086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531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Invoke Superpowers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16936" y="269748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下达模糊指令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81728" y="2395728"/>
            <a:ext cx="228600" cy="384048"/>
          </a:xfrm>
          <a:prstGeom prst="chevron">
            <a:avLst/>
          </a:prstGeom>
          <a:solidFill>
            <a:srgbClr val="B6CAD4"/>
          </a:solidFill>
          <a:ln w="12700">
            <a:solidFill>
              <a:srgbClr val="B6CAD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1783080"/>
            <a:ext cx="1874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D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73168" y="1783080"/>
            <a:ext cx="100584" cy="1691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74336" y="1975104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4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974336" y="234086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531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Plan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74336" y="269748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 AI 基于规范拆解的步骤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739128" y="2395728"/>
            <a:ext cx="228600" cy="384048"/>
          </a:xfrm>
          <a:prstGeom prst="chevron">
            <a:avLst/>
          </a:prstGeom>
          <a:solidFill>
            <a:srgbClr val="B6CAD4"/>
          </a:solidFill>
          <a:ln w="12700">
            <a:solidFill>
              <a:srgbClr val="B6CAD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30568" y="1783080"/>
            <a:ext cx="1874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BED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30568" y="1783080"/>
            <a:ext cx="100584" cy="1691640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31736" y="1975104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7A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31736" y="234086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531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Execute &amp; Verify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31736" y="269748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自动编码、交付标准代码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005840" y="3977640"/>
            <a:ext cx="7132320" cy="475488"/>
          </a:xfrm>
          <a:prstGeom prst="roundRect">
            <a:avLst>
              <a:gd name="adj" fmla="val 11538"/>
            </a:avLst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4440" y="4123944"/>
            <a:ext cx="6675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[演示 2] 加载 Skill 后精准执行任务的实操录屏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75320" y="46451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9A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94360" y="658368"/>
            <a:ext cx="795528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31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拓展视野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35661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6EA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417320"/>
            <a:ext cx="100584" cy="2148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生态工具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1965960"/>
            <a:ext cx="2971800" cy="9144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531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Claude Code + Codex 插件：代码补全与 Agent 的完美协同。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531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更多应用：PPTX 自动化生成、文档自动归档等。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0" y="1417320"/>
            <a:ext cx="3767328" cy="214884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645920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EE8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28032" y="1965960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Superpowers = 流程骨架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Skills = 经验灵魂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828032" y="2852928"/>
            <a:ext cx="292608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D8EAF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建议把最常用的“保姆指令”固化成 Skill，让开发过程真正可控。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75320" y="46451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9A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822960"/>
            <a:ext cx="7223760" cy="3429000"/>
          </a:xfrm>
          <a:prstGeom prst="roundRect">
            <a:avLst>
              <a:gd name="adj" fmla="val 3200"/>
            </a:avLst>
          </a:prstGeom>
          <a:solidFill>
            <a:srgbClr val="163654"/>
          </a:solidFill>
          <a:ln w="12700">
            <a:solidFill>
              <a:srgbClr val="22C7D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234440"/>
            <a:ext cx="6675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Q&amp;A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057400" y="2011680"/>
            <a:ext cx="5029200" cy="713232"/>
          </a:xfrm>
          <a:prstGeom prst="roundRect">
            <a:avLst>
              <a:gd name="adj" fmla="val 8974"/>
            </a:avLst>
          </a:prstGeom>
          <a:solidFill>
            <a:srgbClr val="102A43"/>
          </a:solidFill>
          <a:ln w="12700">
            <a:solidFill>
              <a:srgbClr val="567C9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59152" y="2267712"/>
            <a:ext cx="4434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7E3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Process finished with exit code 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3154680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欢迎随时交流你的 Skills 总结心得！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75320" y="46451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E6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8.8,&quot;left&quot;:298.8,&quot;top&quot;:111.6,&quot;width&quot;:360}"/>
</p:tagLst>
</file>

<file path=ppt/tags/tag2.xml><?xml version="1.0" encoding="utf-8"?>
<p:tagLst xmlns:p="http://schemas.openxmlformats.org/presentationml/2006/main">
  <p:tag name="KSO_WM_DIAGRAM_VIRTUALLY_FRAME" val="{&quot;height&quot;:208.8,&quot;left&quot;:298.8,&quot;top&quot;:111.6,&quot;width&quot;:360}"/>
</p:tagLst>
</file>

<file path=ppt/tags/tag3.xml><?xml version="1.0" encoding="utf-8"?>
<p:tagLst xmlns:p="http://schemas.openxmlformats.org/presentationml/2006/main">
  <p:tag name="KSO_WM_DIAGRAM_VIRTUALLY_FRAME" val="{&quot;height&quot;:208.8,&quot;left&quot;:298.8,&quot;top&quot;:111.6,&quot;width&quot;:360}"/>
</p:tagLst>
</file>

<file path=ppt/tags/tag4.xml><?xml version="1.0" encoding="utf-8"?>
<p:tagLst xmlns:p="http://schemas.openxmlformats.org/presentationml/2006/main">
  <p:tag name="KSO_WM_DIAGRAM_VIRTUALLY_FRAME" val="{&quot;height&quot;:208.8,&quot;left&quot;:298.8,&quot;top&quot;:111.6,&quot;width&quot;:360}"/>
</p:tagLst>
</file>

<file path=ppt/tags/tag5.xml><?xml version="1.0" encoding="utf-8"?>
<p:tagLst xmlns:p="http://schemas.openxmlformats.org/presentationml/2006/main">
  <p:tag name="KSO_WM_DIAGRAM_VIRTUALLY_FRAME" val="{&quot;height&quot;:208.8,&quot;left&quot;:298.8,&quot;top&quot;:111.6,&quot;width&quot;:360}"/>
</p:tagLst>
</file>

<file path=ppt/tags/tag6.xml><?xml version="1.0" encoding="utf-8"?>
<p:tagLst xmlns:p="http://schemas.openxmlformats.org/presentationml/2006/main">
  <p:tag name="KSO_WM_DIAGRAM_VIRTUALLY_FRAME" val="{&quot;height&quot;:208.8,&quot;left&quot;:298.8,&quot;top&quot;:111.6,&quot;width&quot;:360}"/>
</p:tagLst>
</file>

<file path=ppt/tags/tag7.xml><?xml version="1.0" encoding="utf-8"?>
<p:tagLst xmlns:p="http://schemas.openxmlformats.org/presentationml/2006/main">
  <p:tag name="KSO_WM_DIAGRAM_VIRTUALLY_FRAME" val="{&quot;height&quot;:208.8,&quot;left&quot;:298.8,&quot;top&quot;:111.6,&quot;width&quot;:36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1517</Words>
  <Application>WPS 演示</Application>
  <PresentationFormat>On-screen Show (16:9)</PresentationFormat>
  <Paragraphs>196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宋体</vt:lpstr>
      <vt:lpstr>Wingdings</vt:lpstr>
      <vt:lpstr>Consolas</vt:lpstr>
      <vt:lpstr>Consolas</vt:lpstr>
      <vt:lpstr>Consolas</vt:lpstr>
      <vt:lpstr>微软雅黑</vt:lpstr>
      <vt:lpstr>微软雅黑</vt:lpstr>
      <vt:lpstr>Calibri</vt:lpstr>
      <vt:lpstr>Calibri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Claude Code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辅助开发：利用 Superpowers 与 自定义 Skills 提升开发效能</dc:title>
  <dc:creator>Claude Code</dc:creator>
  <dc:subject>AI 辅助开发分享</dc:subject>
  <cp:lastModifiedBy>A0000兮夜</cp:lastModifiedBy>
  <cp:revision>4</cp:revision>
  <dcterms:created xsi:type="dcterms:W3CDTF">2026-04-16T09:41:00Z</dcterms:created>
  <dcterms:modified xsi:type="dcterms:W3CDTF">2026-04-16T11:12:24Z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63D70C207A844840A168734F08B11A63_12</vt:lpwstr>
  </property>
  <property fmtid="{D5CDD505-2E9C-101B-9397-08002B2CF9AE}" pid="3" name="KSOProductBuildVer">
    <vt:lpwstr>2052-12.1.0.25225</vt:lpwstr>
  </property>
</Properties>
</file>